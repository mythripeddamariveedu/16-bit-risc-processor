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81" r:id="rId17"/>
    <p:sldId id="282" r:id="rId18"/>
    <p:sldId id="269" r:id="rId19"/>
    <p:sldId id="270" r:id="rId20"/>
    <p:sldId id="271" r:id="rId21"/>
    <p:sldId id="272" r:id="rId22"/>
    <p:sldId id="273" r:id="rId23"/>
    <p:sldId id="283" r:id="rId24"/>
    <p:sldId id="284" r:id="rId25"/>
    <p:sldId id="274" r:id="rId26"/>
    <p:sldId id="275" r:id="rId27"/>
    <p:sldId id="285" r:id="rId28"/>
    <p:sldId id="276" r:id="rId29"/>
    <p:sldId id="277" r:id="rId30"/>
    <p:sldId id="278" r:id="rId31"/>
    <p:sldId id="279" r:id="rId32"/>
    <p:sldId id="280" r:id="rId3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171E3A"/>
    <a:srgbClr val="4C1C5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6" Type="http://schemas.openxmlformats.org/officeDocument/2006/relationships/tableStyles" Target="tableStyles.xml"/><Relationship Id="rId35" Type="http://schemas.openxmlformats.org/officeDocument/2006/relationships/viewProps" Target="viewProps.xml"/><Relationship Id="rId34" Type="http://schemas.openxmlformats.org/officeDocument/2006/relationships/presProps" Target="presProps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-1463040" y="4846320"/>
            <a:ext cx="3291840" cy="3291840"/>
          </a:xfrm>
          <a:prstGeom prst="ellipse">
            <a:avLst/>
          </a:prstGeom>
          <a:solidFill>
            <a:srgbClr val="F2A93B">
              <a:alpha val="15000"/>
            </a:srgbClr>
          </a:solidFill>
        </p:spPr>
      </p:sp>
      <p:sp>
        <p:nvSpPr>
          <p:cNvPr id="6" name="Text 4"/>
          <p:cNvSpPr/>
          <p:nvPr/>
        </p:nvSpPr>
        <p:spPr>
          <a:xfrm>
            <a:off x="9464040" y="969264"/>
            <a:ext cx="237744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" y="1051560"/>
            <a:ext cx="10515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2331720"/>
            <a:ext cx="105156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VLSI Design Project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822960" y="3200400"/>
            <a:ext cx="1051560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8-bit ALU  &amp;  16-bit Single-Cycle RISC Processor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with 2-Stage IF/ID Pipeline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822960" y="4709160"/>
            <a:ext cx="2011680" cy="0"/>
          </a:xfrm>
          <a:prstGeom prst="line">
            <a:avLst/>
          </a:prstGeom>
          <a:noFill/>
          <a:ln w="31750">
            <a:solidFill>
              <a:srgbClr val="F2A9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5029200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B3D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Submitted by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2960" y="5285232"/>
            <a:ext cx="73152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Mythri Peddamariveedu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822960" y="5687568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FB3D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B.Tech — Electronics and Communication Engineering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22960" y="6053328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B3D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</a:t>
            </a:r>
            <a:endParaRPr lang="en-US" sz="1200" dirty="0"/>
          </a:p>
        </p:txBody>
      </p:sp>
      <p:pic>
        <p:nvPicPr>
          <p:cNvPr id="16" name="Picture 15" descr="LOGO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42720" y="468630"/>
            <a:ext cx="2781300" cy="15316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621792"/>
            <a:ext cx="107899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Contents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5120640" cy="4572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1B2A4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 Abstract</a:t>
            </a:r>
            <a:endParaRPr lang="en-US" sz="1500" dirty="0"/>
          </a:p>
          <a:p>
            <a:pPr marL="0" indent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1B2A4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2. Introduction / Background</a:t>
            </a:r>
            <a:endParaRPr lang="en-US" sz="1500" dirty="0"/>
          </a:p>
          <a:p>
            <a:pPr marL="0" indent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1B2A4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3. Objective of the Study</a:t>
            </a:r>
            <a:endParaRPr lang="en-US" sz="1500" dirty="0"/>
          </a:p>
          <a:p>
            <a:pPr marL="0" indent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1B2A4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4. Problem Definition</a:t>
            </a:r>
            <a:endParaRPr lang="en-US" sz="1500" dirty="0"/>
          </a:p>
          <a:p>
            <a:pPr marL="0" indent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1B2A4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5. Scope of the Study</a:t>
            </a:r>
            <a:endParaRPr lang="en-US" sz="1500" dirty="0"/>
          </a:p>
          <a:p>
            <a:pPr marL="0" indent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1B2A4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6. Literature Review</a:t>
            </a:r>
            <a:endParaRPr lang="en-US" sz="1500" dirty="0"/>
          </a:p>
          <a:p>
            <a:pPr marL="0" indent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1B2A4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7. Methodology / Approach</a:t>
            </a:r>
            <a:endParaRPr lang="en-US" sz="1500" dirty="0"/>
          </a:p>
          <a:p>
            <a:pPr marL="0" indent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1B2A4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8. Experimental Setup</a:t>
            </a:r>
            <a:endParaRPr lang="en-US" sz="1500" dirty="0"/>
          </a:p>
          <a:p>
            <a:pPr marL="0" indent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1B2A4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9. Analysis and Interpretation</a:t>
            </a:r>
            <a:endParaRPr lang="en-US" sz="1500" dirty="0"/>
          </a:p>
          <a:p>
            <a:pPr marL="0" indent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1B2A4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10. Results / Findings</a:t>
            </a:r>
            <a:endParaRPr lang="en-US" sz="1500" dirty="0"/>
          </a:p>
          <a:p>
            <a:pPr marL="0" indent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1B2A4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11. Consolidation Table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309360" y="1600200"/>
            <a:ext cx="5120640" cy="4572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1B2A4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12. Discussion</a:t>
            </a:r>
            <a:endParaRPr lang="en-US" sz="1500" dirty="0"/>
          </a:p>
          <a:p>
            <a:pPr marL="0" indent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1B2A4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13. Proposed System</a:t>
            </a:r>
            <a:endParaRPr lang="en-US" sz="1500" dirty="0"/>
          </a:p>
          <a:p>
            <a:pPr marL="0" indent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1B2A4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14. Feasibility Study</a:t>
            </a:r>
            <a:endParaRPr lang="en-US" sz="1500" dirty="0"/>
          </a:p>
          <a:p>
            <a:pPr marL="0" indent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1B2A4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15. Design / Workflow</a:t>
            </a:r>
            <a:endParaRPr lang="en-US" sz="1500" dirty="0"/>
          </a:p>
          <a:p>
            <a:pPr marL="0" indent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1B2A4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16. Architecture Diagram</a:t>
            </a:r>
            <a:endParaRPr lang="en-US" sz="1500" dirty="0"/>
          </a:p>
          <a:p>
            <a:pPr marL="0" indent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1B2A4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17. Methods &amp; Techniques</a:t>
            </a:r>
            <a:endParaRPr lang="en-US" sz="1500" dirty="0"/>
          </a:p>
          <a:p>
            <a:pPr marL="0" indent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1B2A4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18. Progress in Project</a:t>
            </a:r>
            <a:endParaRPr lang="en-US" sz="1500" dirty="0"/>
          </a:p>
          <a:p>
            <a:pPr marL="0" indent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1B2A4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19. Outcome / Results</a:t>
            </a:r>
            <a:endParaRPr lang="en-US" sz="1500" dirty="0"/>
          </a:p>
          <a:p>
            <a:pPr marL="0" indent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1B2A4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20. Conclusion</a:t>
            </a:r>
            <a:endParaRPr lang="en-US" sz="1500" dirty="0"/>
          </a:p>
          <a:p>
            <a:pPr marL="0" indent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1B2A4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21. References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TechGlobal VLSI Internship — Project Presentation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621792"/>
            <a:ext cx="107899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Abstract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10952480" cy="3474085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600" dirty="0"/>
              <a:t>Designed and verified a 16-bit Single-Cycle RISC Processor using Verilog HDL.</a:t>
            </a:r>
            <a:endParaRPr lang="en-US" alt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600" dirty="0"/>
              <a:t>Implemented modular RTL components including the Program Counter, Instruction Memory, Register File, ALU, Control Unit, Data Memory, and IF/ID Pipeline Register.</a:t>
            </a:r>
            <a:endParaRPr lang="en-US" alt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600" dirty="0"/>
              <a:t>Executed arithmetic, logical, and memory operations through a simplified RISC architecture.</a:t>
            </a:r>
            <a:endParaRPr lang="en-US" alt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600" dirty="0"/>
              <a:t>Performed functional verification using a dedicated testbench and analyzed simulation waveforms in Xilinx Vivado.</a:t>
            </a:r>
            <a:endParaRPr lang="en-US" alt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600" dirty="0"/>
              <a:t>Successfully completed synthesis and implementation, validating the processor design and timing performance.</a:t>
            </a:r>
            <a:endParaRPr lang="en-US" alt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600" dirty="0"/>
              <a:t>Developed a scalable processor architecture that can be extended for future FPGA implementation and advanced pipeline stages.</a:t>
            </a:r>
            <a:endParaRPr lang="en-US" alt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11200" y="3429000"/>
            <a:ext cx="10881360" cy="12801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endParaRPr lang="en-US" alt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TechGlobal VLSI Internship — Project Presentation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621792"/>
            <a:ext cx="107899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Introduction / Background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10881360" cy="42062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1B2A41"/>
                </a:solidFill>
                <a:ea typeface="Calibri" panose="020F0502020204030204" pitchFamily="34" charset="-122"/>
                <a:cs typeface="+mn-lt"/>
              </a:rPr>
              <a:t>VLSI (Very Large Scale Integration) design underpins nearly every modern electronic system, from consumer devices to data-center processors.</a:t>
            </a:r>
            <a:endParaRPr lang="en-US" sz="1600" dirty="0">
              <a:cs typeface="+mn-lt"/>
            </a:endParaRPr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1B2A41"/>
                </a:solidFill>
                <a:ea typeface="Calibri" panose="020F0502020204030204" pitchFamily="34" charset="-122"/>
                <a:cs typeface="+mn-lt"/>
              </a:rPr>
              <a:t>Verilog HDL is the industry-standard hardware description language used to specify digital circuit behavior at the Register-Transfer Level (RTL).</a:t>
            </a:r>
            <a:endParaRPr lang="en-US" sz="1600" dirty="0">
              <a:cs typeface="+mn-lt"/>
            </a:endParaRPr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1B2A41"/>
                </a:solidFill>
                <a:ea typeface="Calibri" panose="020F0502020204030204" pitchFamily="34" charset="-122"/>
                <a:cs typeface="+mn-lt"/>
              </a:rPr>
              <a:t>The Arithmetic Logic Unit (ALU) is the computational core of any processor — understanding it is foundational to processor design.</a:t>
            </a:r>
            <a:endParaRPr lang="en-US" sz="1600" dirty="0">
              <a:cs typeface="+mn-lt"/>
            </a:endParaRPr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1B2A41"/>
                </a:solidFill>
                <a:ea typeface="Calibri" panose="020F0502020204030204" pitchFamily="34" charset="-122"/>
                <a:cs typeface="+mn-lt"/>
              </a:rPr>
              <a:t>A RISC (Reduced Instruction Set Computer) processor integrates an ALU with a datapath, control logic, and memory into a working programmable system.</a:t>
            </a:r>
            <a:endParaRPr lang="en-US" sz="1600" dirty="0">
              <a:cs typeface="+mn-lt"/>
            </a:endParaRPr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1B2A41"/>
                </a:solidFill>
                <a:ea typeface="Calibri" panose="020F0502020204030204" pitchFamily="34" charset="-122"/>
                <a:cs typeface="+mn-lt"/>
              </a:rPr>
              <a:t>This project bridges classroom digital-logic theory with practical, tool-based RTL design using </a:t>
            </a:r>
            <a:r>
              <a:rPr lang="en-US" sz="1600" dirty="0">
                <a:solidFill>
                  <a:srgbClr val="1B2A4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Xilinx Vivado.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TechGlobal VLSI Internship — Project Presentation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621792"/>
            <a:ext cx="107899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Objective of the Study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457200" cy="457200"/>
          </a:xfrm>
          <a:prstGeom prst="ellipse">
            <a:avLst/>
          </a:prstGeom>
          <a:solidFill>
            <a:srgbClr val="1C7293"/>
          </a:solidFill>
        </p:spPr>
      </p:sp>
      <p:sp>
        <p:nvSpPr>
          <p:cNvPr id="5" name="Text 3"/>
          <p:cNvSpPr/>
          <p:nvPr/>
        </p:nvSpPr>
        <p:spPr>
          <a:xfrm>
            <a:off x="640080" y="1691640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61872" y="1636776"/>
            <a:ext cx="4590288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Practical RTL Skill-Building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61872" y="1947672"/>
            <a:ext cx="4590288" cy="6400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B2A4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Gain hands-on experience in Verilog HDL beyond classroom theory.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2743200"/>
            <a:ext cx="457200" cy="457200"/>
          </a:xfrm>
          <a:prstGeom prst="ellipse">
            <a:avLst/>
          </a:prstGeom>
          <a:solidFill>
            <a:srgbClr val="1C7293"/>
          </a:solidFill>
        </p:spPr>
      </p:sp>
      <p:sp>
        <p:nvSpPr>
          <p:cNvPr id="9" name="Text 7"/>
          <p:cNvSpPr/>
          <p:nvPr/>
        </p:nvSpPr>
        <p:spPr>
          <a:xfrm>
            <a:off x="640080" y="2743200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61872" y="2688336"/>
            <a:ext cx="4590288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Full Design Flow Exposure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61872" y="2999232"/>
            <a:ext cx="4590288" cy="6400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B2A4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Learn specification, coding, simulation, synthesis, and implementation using industry EDA tools.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3794760"/>
            <a:ext cx="457200" cy="457200"/>
          </a:xfrm>
          <a:prstGeom prst="ellipse">
            <a:avLst/>
          </a:prstGeom>
          <a:solidFill>
            <a:srgbClr val="1C7293"/>
          </a:solidFill>
        </p:spPr>
      </p:sp>
      <p:sp>
        <p:nvSpPr>
          <p:cNvPr id="13" name="Text 11"/>
          <p:cNvSpPr/>
          <p:nvPr/>
        </p:nvSpPr>
        <p:spPr>
          <a:xfrm>
            <a:off x="640080" y="3794760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261872" y="3739896"/>
            <a:ext cx="4590288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Progressive Complexity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61872" y="4050792"/>
            <a:ext cx="4590288" cy="6400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B2A4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Advance from a combinational ALU to a complete pipelined processor.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309360" y="1691640"/>
            <a:ext cx="457200" cy="457200"/>
          </a:xfrm>
          <a:prstGeom prst="ellipse">
            <a:avLst/>
          </a:prstGeom>
          <a:solidFill>
            <a:srgbClr val="1C7293"/>
          </a:solidFill>
        </p:spPr>
      </p:sp>
      <p:sp>
        <p:nvSpPr>
          <p:cNvPr id="17" name="Text 15"/>
          <p:cNvSpPr/>
          <p:nvPr/>
        </p:nvSpPr>
        <p:spPr>
          <a:xfrm>
            <a:off x="6309360" y="1691640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931152" y="1636776"/>
            <a:ext cx="4590288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Professional Practice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931152" y="1947672"/>
            <a:ext cx="4590288" cy="6400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B2A4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Apply modular coding, systematic verification, and version control.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309360" y="2743200"/>
            <a:ext cx="457200" cy="457200"/>
          </a:xfrm>
          <a:prstGeom prst="ellipse">
            <a:avLst/>
          </a:prstGeom>
          <a:solidFill>
            <a:srgbClr val="1C7293"/>
          </a:solidFill>
        </p:spPr>
      </p:sp>
      <p:sp>
        <p:nvSpPr>
          <p:cNvPr id="21" name="Text 19"/>
          <p:cNvSpPr/>
          <p:nvPr/>
        </p:nvSpPr>
        <p:spPr>
          <a:xfrm>
            <a:off x="6309360" y="2743200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931152" y="2688336"/>
            <a:ext cx="4590288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Reusable Design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931152" y="2999232"/>
            <a:ext cx="4590288" cy="6400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B2A4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Carry a verified ALU core forward into a larger processor system.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309360" y="3794760"/>
            <a:ext cx="457200" cy="457200"/>
          </a:xfrm>
          <a:prstGeom prst="ellipse">
            <a:avLst/>
          </a:prstGeom>
          <a:solidFill>
            <a:srgbClr val="1C7293"/>
          </a:solidFill>
        </p:spPr>
      </p:sp>
      <p:sp>
        <p:nvSpPr>
          <p:cNvPr id="25" name="Text 23"/>
          <p:cNvSpPr/>
          <p:nvPr/>
        </p:nvSpPr>
        <p:spPr>
          <a:xfrm>
            <a:off x="6309360" y="3794760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931152" y="3739896"/>
            <a:ext cx="4590288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Documentation Discipline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931152" y="4050792"/>
            <a:ext cx="4590288" cy="6400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B2A4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Produce industry-style technical documentation for every deliverable.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TechGlobal VLSI Internship — Project Presentation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621792"/>
            <a:ext cx="107899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Problem Definition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10881360" cy="1828800"/>
          </a:xfrm>
          <a:prstGeom prst="roundRect">
            <a:avLst>
              <a:gd name="adj" fmla="val 4000"/>
            </a:avLst>
          </a:prstGeom>
          <a:solidFill>
            <a:srgbClr val="F4F6F9"/>
          </a:solidFill>
        </p:spPr>
      </p:sp>
      <p:sp>
        <p:nvSpPr>
          <p:cNvPr id="5" name="Text 3"/>
          <p:cNvSpPr/>
          <p:nvPr/>
        </p:nvSpPr>
        <p:spPr>
          <a:xfrm>
            <a:off x="1005840" y="1920240"/>
            <a:ext cx="10149840" cy="14630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B2A4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Digital systems require verified, efficient hardware building blocks. There is a need to design a compact, correctly-functioning 8-bit ALU covering arithmetic, logical, and shift operations — and to demonstrate how such a unit integrates into a complete, working processor capable of fetching, decoding, and executing a defined instruction set, while remaining resource-efficient and timing-clean when synthesized to real hardware.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3931920"/>
            <a:ext cx="10881360" cy="13716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1B2A4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Core question: can a modular, independently-verified ALU be scaled and reused as the execution core of a larger, pipelined processor without re-engineering it from scratch?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TechGlobal VLSI Internship — Project Presentation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621792"/>
            <a:ext cx="107899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Scope of the Study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52120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729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 Scope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2011680"/>
            <a:ext cx="5212080" cy="32004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1B2A4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8-bit ALU: ADD, SUB, AND, OR, XOR, NOT, SHL, SHR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1B2A4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16-bit RISC processor with 16 registers, 256-word memory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1B2A4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2-stage IF/ID pipeline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1B2A4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Functional simulation, synthesis, timing/utilization/power analysis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309360" y="1600200"/>
            <a:ext cx="52120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2A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Out of Scope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309360" y="2011680"/>
            <a:ext cx="5212080" cy="32004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1B2A4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Hazard detection and data forwarding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1B2A4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Branch / jump instructions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1B2A4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Multi-stage (5-stage) pipelining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1B2A4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Cache memory and interrupt handling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1B2A4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Physical FPGA hardware bring-up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TechGlobal VLSI Internship — Project Presentation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621792"/>
            <a:ext cx="107899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Literature Review</a:t>
            </a:r>
            <a:endParaRPr lang="en-US" sz="3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/>
        </p:nvGraphicFramePr>
        <p:xfrm>
          <a:off x="548640" y="1600200"/>
          <a:ext cx="11064240" cy="2688336"/>
        </p:xfrm>
        <a:graphic>
          <a:graphicData uri="http://schemas.openxmlformats.org/drawingml/2006/table">
            <a:tbl>
              <a:tblPr/>
              <a:tblGrid>
                <a:gridCol w="6217920"/>
                <a:gridCol w="4846320"/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Source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Relevance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Panigrahi et al., IEEE 2019 — 4-bit ALU on BASYS3 FPGA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Vivado-based ALU synthesis methodology on the same FPGA family used here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Jeemon, IEEE RTEICT 2016 — Pipelined 8-bit RISC Processor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Directly comparable 8-bit pipelined RISC design in Verilog HDL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IEEE Xplore Doc. 10169818 — 5-Stage Pipelined RISC Processor (16-bit)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16-bit instruction width pipeline design, matching this project's data width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IEEE Xplore Doc. 10544184 — Pipelined RISC-V on Basys-3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Single-cycle vs. pipelined timing (WNS) comparison methodology reused here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Patterson &amp; Hennessy, Computer Organization and Design (RISC-V Ed.)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Foundational RISC datapath and pipeline theory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IEEE Std 1364-2005 (Verilog HDL)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Language semantics and coding standards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TechGlobal VLSI Internship — Project Presentation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621792"/>
            <a:ext cx="107899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Methodology / Approach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194560"/>
            <a:ext cx="2011680" cy="2377440"/>
          </a:xfrm>
          <a:prstGeom prst="roundRect">
            <a:avLst>
              <a:gd name="adj" fmla="val 3636"/>
            </a:avLst>
          </a:prstGeom>
          <a:solidFill>
            <a:srgbClr val="0B1F3A"/>
          </a:solidFill>
        </p:spPr>
      </p:sp>
      <p:sp>
        <p:nvSpPr>
          <p:cNvPr id="5" name="Text 3"/>
          <p:cNvSpPr/>
          <p:nvPr/>
        </p:nvSpPr>
        <p:spPr>
          <a:xfrm>
            <a:off x="640080" y="2331720"/>
            <a:ext cx="20116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2A93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31520" y="2880360"/>
            <a:ext cx="1828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Specify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3291840"/>
            <a:ext cx="1737360" cy="11887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4EAF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Define opcode table, instruction format, and module I/O before writing any code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651760" y="3108960"/>
            <a:ext cx="1371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▶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788920" y="2194560"/>
            <a:ext cx="2011680" cy="2377440"/>
          </a:xfrm>
          <a:prstGeom prst="roundRect">
            <a:avLst>
              <a:gd name="adj" fmla="val 3636"/>
            </a:avLst>
          </a:prstGeom>
          <a:solidFill>
            <a:srgbClr val="1C7293"/>
          </a:solidFill>
        </p:spPr>
      </p:sp>
      <p:sp>
        <p:nvSpPr>
          <p:cNvPr id="10" name="Text 8"/>
          <p:cNvSpPr/>
          <p:nvPr/>
        </p:nvSpPr>
        <p:spPr>
          <a:xfrm>
            <a:off x="2788920" y="2331720"/>
            <a:ext cx="20116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2A93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2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2880360" y="2880360"/>
            <a:ext cx="1828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Implement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926080" y="3291840"/>
            <a:ext cx="1737360" cy="11887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4EAF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Code each operation / datapath block as an independent Verilog module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800600" y="3108960"/>
            <a:ext cx="1371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▶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937760" y="2194560"/>
            <a:ext cx="2011680" cy="2377440"/>
          </a:xfrm>
          <a:prstGeom prst="roundRect">
            <a:avLst>
              <a:gd name="adj" fmla="val 3636"/>
            </a:avLst>
          </a:prstGeom>
          <a:solidFill>
            <a:srgbClr val="0B1F3A"/>
          </a:solidFill>
        </p:spPr>
      </p:sp>
      <p:sp>
        <p:nvSpPr>
          <p:cNvPr id="15" name="Text 13"/>
          <p:cNvSpPr/>
          <p:nvPr/>
        </p:nvSpPr>
        <p:spPr>
          <a:xfrm>
            <a:off x="4937760" y="2331720"/>
            <a:ext cx="20116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2A93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3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5029200" y="2880360"/>
            <a:ext cx="1828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Verify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074920" y="3291840"/>
            <a:ext cx="1737360" cy="11887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4EAF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Unit-test each module, then integrate and self-check at the top level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949440" y="3108960"/>
            <a:ext cx="1371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▶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086600" y="2194560"/>
            <a:ext cx="2011680" cy="2377440"/>
          </a:xfrm>
          <a:prstGeom prst="roundRect">
            <a:avLst>
              <a:gd name="adj" fmla="val 3636"/>
            </a:avLst>
          </a:prstGeom>
          <a:solidFill>
            <a:srgbClr val="1C7293"/>
          </a:solidFill>
        </p:spPr>
      </p:sp>
      <p:sp>
        <p:nvSpPr>
          <p:cNvPr id="20" name="Text 18"/>
          <p:cNvSpPr/>
          <p:nvPr/>
        </p:nvSpPr>
        <p:spPr>
          <a:xfrm>
            <a:off x="7086600" y="2331720"/>
            <a:ext cx="20116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2A93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4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7178040" y="2880360"/>
            <a:ext cx="1828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Synthesize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223760" y="3291840"/>
            <a:ext cx="1737360" cy="11887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4EAF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Run synthesis and implementation in Xilinx Vivado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9098280" y="3108960"/>
            <a:ext cx="1371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▶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9235440" y="2194560"/>
            <a:ext cx="2011680" cy="2377440"/>
          </a:xfrm>
          <a:prstGeom prst="roundRect">
            <a:avLst>
              <a:gd name="adj" fmla="val 3636"/>
            </a:avLst>
          </a:prstGeom>
          <a:solidFill>
            <a:srgbClr val="0B1F3A"/>
          </a:solidFill>
        </p:spPr>
      </p:sp>
      <p:sp>
        <p:nvSpPr>
          <p:cNvPr id="25" name="Text 23"/>
          <p:cNvSpPr/>
          <p:nvPr/>
        </p:nvSpPr>
        <p:spPr>
          <a:xfrm>
            <a:off x="9235440" y="2331720"/>
            <a:ext cx="20116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2A93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5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9326880" y="2880360"/>
            <a:ext cx="1828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Analyze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372600" y="3291840"/>
            <a:ext cx="1737360" cy="11887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4EAF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Review timing, utilization, and power reports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40080" y="4846320"/>
            <a:ext cx="108813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Consistent with standard RISC design practice: single-cycle baseline verified first, pipeline added as an enhancement afterward.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TechGlobal VLSI Internship — Project Presentation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621792"/>
            <a:ext cx="107899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Experimental Setup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52120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729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Tools &amp; Platform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2011680"/>
            <a:ext cx="5212080" cy="32004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1B2A4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Verilog HDL — RTL design language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1B2A4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Xilinx Vivado 2019.1 — synthesis &amp; implementation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1B2A4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XSim — behavioral simulation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1B2A4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Git &amp; GitHub — version control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309360" y="1600200"/>
            <a:ext cx="52120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729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Collection Method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309360" y="2011680"/>
            <a:ext cx="5212080" cy="32004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1B2A4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Hand-calculated expected values per test vector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1B2A4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Self-checking testbenches comparing actual vs. expected output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1B2A4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Waveform capture (.vcd) for visual verification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1B2A4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Post-implementation reports: timing, utilization, power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TechGlobal VLSI Internship — Project Presentation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621792"/>
            <a:ext cx="107899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Analysis and Interpretation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10881360" cy="42062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1B2A4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Pipeline latency: each instruction completes 2 clock cycles after fetch due to the IF/ID register — confirmed by tracing write-back timing in simulation.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1B2A4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Throughput: despite 2-cycle latency, steady-state throughput remains 1 instruction/cycle once the pipeline is full.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1B2A4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Timing: zero failing endpoints on the ALU's combinational paths — expected, since no clock constraints apply to purely combinational logic.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1B2A4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Resource usage: the subtractor consumed more LUTs than the adder (21 vs. 4), reflecting the extra carry/borrow logic two's-complement subtraction requires.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TechGlobal VLSI Internship — Project Presentation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621792"/>
            <a:ext cx="107899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Results / Findings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2514600" cy="1371600"/>
          </a:xfrm>
          <a:prstGeom prst="roundRect">
            <a:avLst>
              <a:gd name="adj" fmla="val 5333"/>
            </a:avLst>
          </a:prstGeom>
          <a:solidFill>
            <a:srgbClr val="F4F6F9"/>
          </a:solidFill>
        </p:spPr>
      </p:sp>
      <p:sp>
        <p:nvSpPr>
          <p:cNvPr id="5" name="Text 3"/>
          <p:cNvSpPr/>
          <p:nvPr/>
        </p:nvSpPr>
        <p:spPr>
          <a:xfrm>
            <a:off x="640080" y="1874520"/>
            <a:ext cx="251460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2A93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80/80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40080" y="2578608"/>
            <a:ext cx="2514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ALU test vectors passed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37560" y="1737360"/>
            <a:ext cx="2514600" cy="1371600"/>
          </a:xfrm>
          <a:prstGeom prst="roundRect">
            <a:avLst>
              <a:gd name="adj" fmla="val 5333"/>
            </a:avLst>
          </a:prstGeom>
          <a:solidFill>
            <a:srgbClr val="F4F6F9"/>
          </a:solidFill>
        </p:spPr>
      </p:sp>
      <p:sp>
        <p:nvSpPr>
          <p:cNvPr id="8" name="Text 6"/>
          <p:cNvSpPr/>
          <p:nvPr/>
        </p:nvSpPr>
        <p:spPr>
          <a:xfrm>
            <a:off x="3337560" y="1874520"/>
            <a:ext cx="251460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2A93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6/6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3337560" y="2578608"/>
            <a:ext cx="2514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RISC processor checks passed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035040" y="1737360"/>
            <a:ext cx="2514600" cy="1371600"/>
          </a:xfrm>
          <a:prstGeom prst="roundRect">
            <a:avLst>
              <a:gd name="adj" fmla="val 5333"/>
            </a:avLst>
          </a:prstGeom>
          <a:solidFill>
            <a:srgbClr val="F4F6F9"/>
          </a:solidFill>
        </p:spPr>
      </p:sp>
      <p:sp>
        <p:nvSpPr>
          <p:cNvPr id="11" name="Text 9"/>
          <p:cNvSpPr/>
          <p:nvPr/>
        </p:nvSpPr>
        <p:spPr>
          <a:xfrm>
            <a:off x="6035040" y="1874520"/>
            <a:ext cx="251460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2A93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54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6035040" y="2578608"/>
            <a:ext cx="2514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LUTs used (ALU synthesis)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732520" y="1737360"/>
            <a:ext cx="2514600" cy="1371600"/>
          </a:xfrm>
          <a:prstGeom prst="roundRect">
            <a:avLst>
              <a:gd name="adj" fmla="val 5333"/>
            </a:avLst>
          </a:prstGeom>
          <a:solidFill>
            <a:srgbClr val="F4F6F9"/>
          </a:solidFill>
        </p:spPr>
      </p:sp>
      <p:sp>
        <p:nvSpPr>
          <p:cNvPr id="14" name="Text 12"/>
          <p:cNvSpPr/>
          <p:nvPr/>
        </p:nvSpPr>
        <p:spPr>
          <a:xfrm>
            <a:off x="8732520" y="1874520"/>
            <a:ext cx="251460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2A93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8732520" y="2578608"/>
            <a:ext cx="2514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Timing violations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3474720"/>
            <a:ext cx="10881360" cy="23774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1B2A4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All 8 ALU operations verified across 10 vectors each, including carry/borrow and zero-flag edge cases.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1B2A4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RISC processor correctly executed LOAD, ADD, STORE, and AND instructions with matching register and memory outputs.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1B2A4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Zero flag correctly asserted when the AND operation produced an all-zero result.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TechGlobal VLSI Internship — Project Presentation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621792"/>
            <a:ext cx="107899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Simulation Waveform Evidence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3139440" y="4815840"/>
            <a:ext cx="6822440" cy="59753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i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Project 1 — 8-bit ALU: representative waveform, all 8 operations</a:t>
            </a:r>
            <a:endParaRPr lang="en-US" i="1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8" name="Text 5"/>
          <p:cNvSpPr/>
          <p:nvPr/>
        </p:nvSpPr>
        <p:spPr>
          <a:xfrm>
            <a:off x="6382512" y="2743200"/>
            <a:ext cx="498348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2A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[ Insert RISC Processor Waveform Screenshot Here ]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321552" y="5047488"/>
            <a:ext cx="53492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TechGlobal VLSI Internship — Project Presentation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12b</a:t>
            </a:r>
            <a:endParaRPr lang="en-US" sz="1000" dirty="0"/>
          </a:p>
        </p:txBody>
      </p:sp>
      <p:pic>
        <p:nvPicPr>
          <p:cNvPr id="13" name="Picture 12" descr="alu_wavefor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8450" y="1783080"/>
            <a:ext cx="11694795" cy="302514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processor_wavefor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0500" y="934720"/>
            <a:ext cx="11811000" cy="4358640"/>
          </a:xfrm>
          <a:prstGeom prst="rect">
            <a:avLst/>
          </a:prstGeom>
        </p:spPr>
      </p:pic>
      <p:sp>
        <p:nvSpPr>
          <p:cNvPr id="3" name="Text Box 2"/>
          <p:cNvSpPr txBox="1"/>
          <p:nvPr/>
        </p:nvSpPr>
        <p:spPr>
          <a:xfrm>
            <a:off x="4296410" y="561848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Project 2.1: Processor Waveform Output</a:t>
            </a:r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Picture 2" descr="alu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9070" y="1569085"/>
            <a:ext cx="11833860" cy="3121025"/>
          </a:xfrm>
          <a:prstGeom prst="rect">
            <a:avLst/>
          </a:prstGeom>
        </p:spPr>
      </p:pic>
      <p:sp>
        <p:nvSpPr>
          <p:cNvPr id="4" name="Text Box 3"/>
          <p:cNvSpPr txBox="1"/>
          <p:nvPr/>
        </p:nvSpPr>
        <p:spPr>
          <a:xfrm>
            <a:off x="4064000" y="509016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Project 2.2 : Processor ALU Waveform</a:t>
            </a:r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ISA OPCODE SUMMARY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Consolidation Table</a:t>
            </a:r>
            <a:endParaRPr lang="en-US" sz="32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/>
        </p:nvGraphicFramePr>
        <p:xfrm>
          <a:off x="548640" y="1645920"/>
          <a:ext cx="11064240" cy="4224528"/>
        </p:xfrm>
        <a:graphic>
          <a:graphicData uri="http://schemas.openxmlformats.org/drawingml/2006/table">
            <a:tbl>
              <a:tblPr/>
              <a:tblGrid>
                <a:gridCol w="1463040"/>
                <a:gridCol w="1645920"/>
                <a:gridCol w="1645920"/>
                <a:gridCol w="4754880"/>
                <a:gridCol w="1554480"/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Opcode</a:t>
                      </a:r>
                      <a:endParaRPr lang="en-US" sz="13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Mnemonic</a:t>
                      </a:r>
                      <a:endParaRPr lang="en-US" sz="13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Type</a:t>
                      </a:r>
                      <a:endParaRPr lang="en-US" sz="13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Operation</a:t>
                      </a:r>
                      <a:endParaRPr lang="en-US" sz="13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ALU Sel</a:t>
                      </a:r>
                      <a:endParaRPr lang="en-US" sz="13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0000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ADD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R-type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Rd = Rs1 + Rs2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000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0001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SUB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R-type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Rd = Rs1 - Rs2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001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0010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AND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R-type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Rd = Rs1 &amp; Rs2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010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0011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OR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R-type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Rd = Rs1 | Rs2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011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0100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LOAD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I-type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Rd = Mem[Rs1 + imm]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000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0101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STORE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I-type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Mem[Rs1 + imm] = Rs2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000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0110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XOR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R-type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Rd = Rs1 ^ Rs2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100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0111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NOT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R-type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Rd = ~Rs1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101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1000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SHL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R-type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Rd = Rs1 &lt;&lt; 1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110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1001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SHR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R-type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Rd = Rs1 &gt;&gt; 1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B2A4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111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TechGlobal VLSI Internship — Project Presentation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Discussion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10881360" cy="42062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altLang="en-US" sz="1600" dirty="0"/>
              <a:t>Leveraged the knowledge gained from the 8-bit ALU project to accelerate the design and integration of the 16-bit RISC processor, ensuring consistency in arithmetic and logical operations.</a:t>
            </a:r>
            <a:endParaRPr lang="en-US" alt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altLang="en-US" sz="1600" dirty="0"/>
              <a:t>Adopted a modular RTL design approach, which simplified the development, integration, verification, and debugging of individual processor components.</a:t>
            </a:r>
            <a:endParaRPr lang="en-US" alt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altLang="en-US" sz="1600" dirty="0"/>
              <a:t>Successfully verified processor functionality using a self-checking Verilog testbench, validating instruction execution, ALU operations, register updates, and memory access through simulation.</a:t>
            </a:r>
            <a:endParaRPr lang="en-US" alt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altLang="en-US" sz="1600" dirty="0"/>
              <a:t>Completed the complete RTL design flow, including coding, simulation, synthesis, implementation, and timing analysis using Xilinx Vivado.</a:t>
            </a:r>
            <a:endParaRPr lang="en-US" alt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altLang="en-US" sz="1600" dirty="0"/>
              <a:t>The implemented architecture provides a strong foundation for future enhancements such as additional pipeline stages, hazard handling, expanded instruction support, and FPGA deployment.</a:t>
            </a:r>
            <a:endParaRPr lang="en-US" alt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TechGlobal VLSI Internship — Project Presentation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Proposed System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10881360" cy="10058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1B2A4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16-bit Single-Cycle RISC Processor with a 2-stage IF/ID pipeline — proposed and implemented as an enhancement beyond the baseline single-cycle requirement, directly reusing the verified 8-bit ALU as its Execute-stage core.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1417320" cy="1280160"/>
          </a:xfrm>
          <a:prstGeom prst="roundRect">
            <a:avLst>
              <a:gd name="adj" fmla="val 4286"/>
            </a:avLst>
          </a:prstGeom>
          <a:solidFill>
            <a:srgbClr val="0B1F3A"/>
          </a:solidFill>
        </p:spPr>
      </p:sp>
      <p:sp>
        <p:nvSpPr>
          <p:cNvPr id="6" name="Text 4"/>
          <p:cNvSpPr/>
          <p:nvPr/>
        </p:nvSpPr>
        <p:spPr>
          <a:xfrm>
            <a:off x="640080" y="3017520"/>
            <a:ext cx="1417320" cy="1280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Program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Counter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057400" y="3429000"/>
            <a:ext cx="16459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▶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221992" y="3017520"/>
            <a:ext cx="1417320" cy="1280160"/>
          </a:xfrm>
          <a:prstGeom prst="roundRect">
            <a:avLst>
              <a:gd name="adj" fmla="val 4286"/>
            </a:avLst>
          </a:prstGeom>
          <a:solidFill>
            <a:srgbClr val="1C7293"/>
          </a:solidFill>
        </p:spPr>
      </p:sp>
      <p:sp>
        <p:nvSpPr>
          <p:cNvPr id="9" name="Text 7"/>
          <p:cNvSpPr/>
          <p:nvPr/>
        </p:nvSpPr>
        <p:spPr>
          <a:xfrm>
            <a:off x="2221992" y="3017520"/>
            <a:ext cx="1417320" cy="1280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Instruction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Memory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39312" y="3429000"/>
            <a:ext cx="16459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▶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803904" y="3017520"/>
            <a:ext cx="1417320" cy="1280160"/>
          </a:xfrm>
          <a:prstGeom prst="roundRect">
            <a:avLst>
              <a:gd name="adj" fmla="val 4286"/>
            </a:avLst>
          </a:prstGeom>
          <a:solidFill>
            <a:srgbClr val="0B1F3A"/>
          </a:solidFill>
        </p:spPr>
      </p:sp>
      <p:sp>
        <p:nvSpPr>
          <p:cNvPr id="12" name="Text 10"/>
          <p:cNvSpPr/>
          <p:nvPr/>
        </p:nvSpPr>
        <p:spPr>
          <a:xfrm>
            <a:off x="3803904" y="3017520"/>
            <a:ext cx="1417320" cy="1280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IF/ID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Register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221224" y="3429000"/>
            <a:ext cx="16459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▶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385816" y="3017520"/>
            <a:ext cx="1417320" cy="1280160"/>
          </a:xfrm>
          <a:prstGeom prst="roundRect">
            <a:avLst>
              <a:gd name="adj" fmla="val 4286"/>
            </a:avLst>
          </a:prstGeom>
          <a:solidFill>
            <a:srgbClr val="1C7293"/>
          </a:solidFill>
        </p:spPr>
      </p:sp>
      <p:sp>
        <p:nvSpPr>
          <p:cNvPr id="15" name="Text 13"/>
          <p:cNvSpPr/>
          <p:nvPr/>
        </p:nvSpPr>
        <p:spPr>
          <a:xfrm>
            <a:off x="5385816" y="3017520"/>
            <a:ext cx="1417320" cy="1280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Control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Unit +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Register File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803136" y="3429000"/>
            <a:ext cx="16459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▶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967728" y="3017520"/>
            <a:ext cx="1417320" cy="1280160"/>
          </a:xfrm>
          <a:prstGeom prst="roundRect">
            <a:avLst>
              <a:gd name="adj" fmla="val 4286"/>
            </a:avLst>
          </a:prstGeom>
          <a:solidFill>
            <a:srgbClr val="0B1F3A"/>
          </a:solidFill>
        </p:spPr>
      </p:sp>
      <p:sp>
        <p:nvSpPr>
          <p:cNvPr id="18" name="Text 16"/>
          <p:cNvSpPr/>
          <p:nvPr/>
        </p:nvSpPr>
        <p:spPr>
          <a:xfrm>
            <a:off x="6967728" y="3017520"/>
            <a:ext cx="1417320" cy="1280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16-bit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ALU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385048" y="3429000"/>
            <a:ext cx="16459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▶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549640" y="3017520"/>
            <a:ext cx="1417320" cy="1280160"/>
          </a:xfrm>
          <a:prstGeom prst="roundRect">
            <a:avLst>
              <a:gd name="adj" fmla="val 4286"/>
            </a:avLst>
          </a:prstGeom>
          <a:solidFill>
            <a:srgbClr val="1C7293"/>
          </a:solidFill>
        </p:spPr>
      </p:sp>
      <p:sp>
        <p:nvSpPr>
          <p:cNvPr id="21" name="Text 19"/>
          <p:cNvSpPr/>
          <p:nvPr/>
        </p:nvSpPr>
        <p:spPr>
          <a:xfrm>
            <a:off x="8549640" y="3017520"/>
            <a:ext cx="1417320" cy="1280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Memory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966960" y="3429000"/>
            <a:ext cx="16459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▶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10131552" y="3017520"/>
            <a:ext cx="1417320" cy="1280160"/>
          </a:xfrm>
          <a:prstGeom prst="roundRect">
            <a:avLst>
              <a:gd name="adj" fmla="val 4286"/>
            </a:avLst>
          </a:prstGeom>
          <a:solidFill>
            <a:srgbClr val="0B1F3A"/>
          </a:solidFill>
        </p:spPr>
      </p:sp>
      <p:sp>
        <p:nvSpPr>
          <p:cNvPr id="24" name="Text 22"/>
          <p:cNvSpPr/>
          <p:nvPr/>
        </p:nvSpPr>
        <p:spPr>
          <a:xfrm>
            <a:off x="10131552" y="3017520"/>
            <a:ext cx="1417320" cy="1280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Write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Back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65480" y="4572000"/>
            <a:ext cx="10594975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                                          </a:t>
            </a:r>
            <a:r>
              <a:rPr lang="en-US" sz="1200" i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</a:t>
            </a:r>
            <a:r>
              <a:rPr lang="en-US" sz="1600" b="1" i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Proposed system reuses Project 1's verified ALU core (highlighted) as the Execute stage of Project 2</a:t>
            </a:r>
            <a:r>
              <a:rPr lang="en-US" sz="1200" i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.</a:t>
            </a:r>
            <a:endParaRPr lang="en-US" sz="1200" i="1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TechGlobal VLSI Internship — Project Presentation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Feasibility Study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457200" cy="457200"/>
          </a:xfrm>
          <a:prstGeom prst="ellipse">
            <a:avLst/>
          </a:prstGeom>
          <a:solidFill>
            <a:srgbClr val="1C7293"/>
          </a:solidFill>
        </p:spPr>
      </p:sp>
      <p:sp>
        <p:nvSpPr>
          <p:cNvPr id="5" name="Text 3"/>
          <p:cNvSpPr/>
          <p:nvPr/>
        </p:nvSpPr>
        <p:spPr>
          <a:xfrm>
            <a:off x="640080" y="1737360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61872" y="1682496"/>
            <a:ext cx="10259568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Resource Feasibility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61872" y="1993392"/>
            <a:ext cx="10259568" cy="6400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B2A4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ALU uses only 54 Slice LUTs (0.68% of an 8000-LUT device) — well within budget for integration into a larger system.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2788920"/>
            <a:ext cx="457200" cy="457200"/>
          </a:xfrm>
          <a:prstGeom prst="ellipse">
            <a:avLst/>
          </a:prstGeom>
          <a:solidFill>
            <a:srgbClr val="1C7293"/>
          </a:solidFill>
        </p:spPr>
      </p:sp>
      <p:sp>
        <p:nvSpPr>
          <p:cNvPr id="9" name="Text 7"/>
          <p:cNvSpPr/>
          <p:nvPr/>
        </p:nvSpPr>
        <p:spPr>
          <a:xfrm>
            <a:off x="640080" y="2788920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61872" y="2734056"/>
            <a:ext cx="10259568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Timing Feasibility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61872" y="3044952"/>
            <a:ext cx="10259568" cy="6400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B2A4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Zero failing timing endpoints across all paths analyzed; no setup/hold violations reported.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3840480"/>
            <a:ext cx="457200" cy="457200"/>
          </a:xfrm>
          <a:prstGeom prst="ellipse">
            <a:avLst/>
          </a:prstGeom>
          <a:solidFill>
            <a:srgbClr val="1C7293"/>
          </a:solidFill>
        </p:spPr>
      </p:sp>
      <p:sp>
        <p:nvSpPr>
          <p:cNvPr id="13" name="Text 11"/>
          <p:cNvSpPr/>
          <p:nvPr/>
        </p:nvSpPr>
        <p:spPr>
          <a:xfrm>
            <a:off x="640080" y="3840480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261872" y="3785616"/>
            <a:ext cx="10259568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Power Feasibility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61872" y="4096512"/>
            <a:ext cx="10259568" cy="6400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B2A4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On-chip power dominated by I/O (expected for a small design); logic power remains minimal, confirming an efficient implementation.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" y="5029200"/>
            <a:ext cx="108813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Conclusion: The design is technically feasible for synthesis and implementation on a real FPGA target.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TechGlobal VLSI Internship — Project Presentation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POST-SYNTHESIS EVIDENCE — Major Project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Implementation Reports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3997960" y="5132832"/>
            <a:ext cx="35204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Timing Summary</a:t>
            </a:r>
            <a:endParaRPr lang="en-US" dirty="0"/>
          </a:p>
        </p:txBody>
      </p:sp>
      <p:sp>
        <p:nvSpPr>
          <p:cNvPr id="14" name="Text 9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TechGlobal VLSI Internship — Project Presentation</a:t>
            </a:r>
            <a:endParaRPr lang="en-US" sz="1000" dirty="0"/>
          </a:p>
        </p:txBody>
      </p:sp>
      <p:sp>
        <p:nvSpPr>
          <p:cNvPr id="15" name="Text 10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16b</a:t>
            </a:r>
            <a:endParaRPr lang="en-US" sz="1000" dirty="0"/>
          </a:p>
        </p:txBody>
      </p:sp>
      <p:pic>
        <p:nvPicPr>
          <p:cNvPr id="16" name="Picture 15" descr="Timing Analysis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87830" y="1794510"/>
            <a:ext cx="9064625" cy="293878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Resource Utilization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7080" y="1261110"/>
            <a:ext cx="10749280" cy="3025140"/>
          </a:xfrm>
          <a:prstGeom prst="rect">
            <a:avLst/>
          </a:prstGeom>
        </p:spPr>
      </p:pic>
      <p:sp>
        <p:nvSpPr>
          <p:cNvPr id="3" name="Text Box 2"/>
          <p:cNvSpPr txBox="1"/>
          <p:nvPr/>
        </p:nvSpPr>
        <p:spPr>
          <a:xfrm>
            <a:off x="4672965" y="5073650"/>
            <a:ext cx="5029835" cy="2679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b="1"/>
              <a:t>Resource Utilization report</a:t>
            </a:r>
            <a:endParaRPr lang="en-US" b="1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Processor Power Report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5835" y="1069340"/>
            <a:ext cx="10464165" cy="3754120"/>
          </a:xfrm>
          <a:prstGeom prst="rect">
            <a:avLst/>
          </a:prstGeom>
        </p:spPr>
      </p:pic>
      <p:sp>
        <p:nvSpPr>
          <p:cNvPr id="3" name="Text Box 2"/>
          <p:cNvSpPr txBox="1"/>
          <p:nvPr/>
        </p:nvSpPr>
        <p:spPr>
          <a:xfrm>
            <a:off x="4795520" y="509016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b="1"/>
              <a:t>Power Analysis</a:t>
            </a:r>
            <a:endParaRPr lang="en-US" b="1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Design Workflow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1691640" cy="1188720"/>
          </a:xfrm>
          <a:prstGeom prst="roundRect">
            <a:avLst>
              <a:gd name="adj" fmla="val 4615"/>
            </a:avLst>
          </a:prstGeom>
          <a:solidFill>
            <a:srgbClr val="F4F6F9"/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920240"/>
            <a:ext cx="1691640" cy="1188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Spec &amp;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ISA Design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2331720" y="2304288"/>
            <a:ext cx="128016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2A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▶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459736" y="1920240"/>
            <a:ext cx="1691640" cy="1188720"/>
          </a:xfrm>
          <a:prstGeom prst="roundRect">
            <a:avLst>
              <a:gd name="adj" fmla="val 4615"/>
            </a:avLst>
          </a:prstGeom>
          <a:solidFill>
            <a:srgbClr val="F4F6F9"/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59736" y="1920240"/>
            <a:ext cx="1691640" cy="1188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Module-Level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RTL Coding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151376" y="2304288"/>
            <a:ext cx="128016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2A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▶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279392" y="1920240"/>
            <a:ext cx="1691640" cy="1188720"/>
          </a:xfrm>
          <a:prstGeom prst="roundRect">
            <a:avLst>
              <a:gd name="adj" fmla="val 4615"/>
            </a:avLst>
          </a:prstGeom>
          <a:solidFill>
            <a:srgbClr val="F4F6F9"/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79392" y="1920240"/>
            <a:ext cx="1691640" cy="1188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Unit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Simulation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971032" y="2304288"/>
            <a:ext cx="128016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2A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▶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099048" y="1920240"/>
            <a:ext cx="1691640" cy="1188720"/>
          </a:xfrm>
          <a:prstGeom prst="roundRect">
            <a:avLst>
              <a:gd name="adj" fmla="val 4615"/>
            </a:avLst>
          </a:prstGeom>
          <a:solidFill>
            <a:srgbClr val="F4F6F9"/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99048" y="1920240"/>
            <a:ext cx="1691640" cy="1188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Top-Level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Integration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7790688" y="2304288"/>
            <a:ext cx="128016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2A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▶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918704" y="1920240"/>
            <a:ext cx="1691640" cy="1188720"/>
          </a:xfrm>
          <a:prstGeom prst="roundRect">
            <a:avLst>
              <a:gd name="adj" fmla="val 4615"/>
            </a:avLst>
          </a:prstGeom>
          <a:solidFill>
            <a:srgbClr val="F4F6F9"/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918704" y="1920240"/>
            <a:ext cx="1691640" cy="1188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Self-Checking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Verification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9610344" y="2304288"/>
            <a:ext cx="128016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2A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▶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9738360" y="1920240"/>
            <a:ext cx="1691640" cy="1188720"/>
          </a:xfrm>
          <a:prstGeom prst="roundRect">
            <a:avLst>
              <a:gd name="adj" fmla="val 4615"/>
            </a:avLst>
          </a:prstGeom>
          <a:solidFill>
            <a:srgbClr val="F4F6F9"/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738360" y="1920240"/>
            <a:ext cx="1691640" cy="1188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Synthesis &amp;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Implementation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40080" y="3566160"/>
            <a:ext cx="10881360" cy="18288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1B2A4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Each stage gated the next: no module moved to integration until it passed unit-level simulation.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1B2A4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Single-cycle processor was fully verified before the IF/ID pipeline register was introduced, isolating functional bugs from pipeline-timing bugs.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TechGlobal VLSI Internship — Project Presentation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Architecture Diagram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1965960" cy="548640"/>
          </a:xfrm>
          <a:prstGeom prst="roundRect">
            <a:avLst>
              <a:gd name="adj" fmla="val 10000"/>
            </a:avLst>
          </a:prstGeom>
          <a:solidFill>
            <a:srgbClr val="0B1F3A"/>
          </a:solidFill>
        </p:spPr>
      </p:sp>
      <p:sp>
        <p:nvSpPr>
          <p:cNvPr id="5" name="Text 3"/>
          <p:cNvSpPr/>
          <p:nvPr/>
        </p:nvSpPr>
        <p:spPr>
          <a:xfrm>
            <a:off x="640080" y="2011680"/>
            <a:ext cx="19659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FETCH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2697480"/>
            <a:ext cx="1965960" cy="1371600"/>
          </a:xfrm>
          <a:prstGeom prst="roundRect">
            <a:avLst>
              <a:gd name="adj" fmla="val 4000"/>
            </a:avLst>
          </a:prstGeom>
          <a:solidFill>
            <a:srgbClr val="F4F6F9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697480"/>
            <a:ext cx="1783080" cy="1371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B2A4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PC update,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1B2A4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Instruction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1B2A4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Memory read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606040" y="2029968"/>
            <a:ext cx="1828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2A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▶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788920" y="2011680"/>
            <a:ext cx="1965960" cy="548640"/>
          </a:xfrm>
          <a:prstGeom prst="roundRect">
            <a:avLst>
              <a:gd name="adj" fmla="val 10000"/>
            </a:avLst>
          </a:prstGeom>
          <a:solidFill>
            <a:srgbClr val="0B1F3A"/>
          </a:solidFill>
        </p:spPr>
      </p:sp>
      <p:sp>
        <p:nvSpPr>
          <p:cNvPr id="10" name="Text 8"/>
          <p:cNvSpPr/>
          <p:nvPr/>
        </p:nvSpPr>
        <p:spPr>
          <a:xfrm>
            <a:off x="2788920" y="2011680"/>
            <a:ext cx="19659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DECODE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788920" y="2697480"/>
            <a:ext cx="1965960" cy="1371600"/>
          </a:xfrm>
          <a:prstGeom prst="roundRect">
            <a:avLst>
              <a:gd name="adj" fmla="val 4000"/>
            </a:avLst>
          </a:prstGeom>
          <a:solidFill>
            <a:srgbClr val="F4F6F9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880360" y="2697480"/>
            <a:ext cx="1783080" cy="1371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B2A4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IF/ID reg,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1B2A4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Control Unit,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1B2A4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Register read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754880" y="2029968"/>
            <a:ext cx="1828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2A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▶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937760" y="2011680"/>
            <a:ext cx="1965960" cy="548640"/>
          </a:xfrm>
          <a:prstGeom prst="roundRect">
            <a:avLst>
              <a:gd name="adj" fmla="val 10000"/>
            </a:avLst>
          </a:prstGeom>
          <a:solidFill>
            <a:srgbClr val="0B1F3A"/>
          </a:solidFill>
        </p:spPr>
      </p:sp>
      <p:sp>
        <p:nvSpPr>
          <p:cNvPr id="15" name="Text 13"/>
          <p:cNvSpPr/>
          <p:nvPr/>
        </p:nvSpPr>
        <p:spPr>
          <a:xfrm>
            <a:off x="4937760" y="2011680"/>
            <a:ext cx="19659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EXECUTE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937760" y="2697480"/>
            <a:ext cx="1965960" cy="1371600"/>
          </a:xfrm>
          <a:prstGeom prst="roundRect">
            <a:avLst>
              <a:gd name="adj" fmla="val 4000"/>
            </a:avLst>
          </a:prstGeom>
          <a:solidFill>
            <a:srgbClr val="F4F6F9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0" y="2697480"/>
            <a:ext cx="1783080" cy="1371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B2A4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16-bit ALU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1B2A4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(reused from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1B2A4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Project 1)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903720" y="2029968"/>
            <a:ext cx="1828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2A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▶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086600" y="2011680"/>
            <a:ext cx="1965960" cy="548640"/>
          </a:xfrm>
          <a:prstGeom prst="roundRect">
            <a:avLst>
              <a:gd name="adj" fmla="val 10000"/>
            </a:avLst>
          </a:prstGeom>
          <a:solidFill>
            <a:srgbClr val="0B1F3A"/>
          </a:solidFill>
        </p:spPr>
      </p:sp>
      <p:sp>
        <p:nvSpPr>
          <p:cNvPr id="20" name="Text 18"/>
          <p:cNvSpPr/>
          <p:nvPr/>
        </p:nvSpPr>
        <p:spPr>
          <a:xfrm>
            <a:off x="7086600" y="2011680"/>
            <a:ext cx="19659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MEMORY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086600" y="2697480"/>
            <a:ext cx="1965960" cy="1371600"/>
          </a:xfrm>
          <a:prstGeom prst="roundRect">
            <a:avLst>
              <a:gd name="adj" fmla="val 4000"/>
            </a:avLst>
          </a:prstGeom>
          <a:solidFill>
            <a:srgbClr val="F4F6F9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78040" y="2697480"/>
            <a:ext cx="1783080" cy="1371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B2A4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Memory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1B2A4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read / write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9052560" y="2029968"/>
            <a:ext cx="1828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2A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▶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9235440" y="2011680"/>
            <a:ext cx="1965960" cy="548640"/>
          </a:xfrm>
          <a:prstGeom prst="roundRect">
            <a:avLst>
              <a:gd name="adj" fmla="val 10000"/>
            </a:avLst>
          </a:prstGeom>
          <a:solidFill>
            <a:srgbClr val="0B1F3A"/>
          </a:solidFill>
        </p:spPr>
      </p:sp>
      <p:sp>
        <p:nvSpPr>
          <p:cNvPr id="25" name="Text 23"/>
          <p:cNvSpPr/>
          <p:nvPr/>
        </p:nvSpPr>
        <p:spPr>
          <a:xfrm>
            <a:off x="9235440" y="2011680"/>
            <a:ext cx="19659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WRITE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BACK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9235440" y="2697480"/>
            <a:ext cx="1965960" cy="1371600"/>
          </a:xfrm>
          <a:prstGeom prst="roundRect">
            <a:avLst>
              <a:gd name="adj" fmla="val 4000"/>
            </a:avLst>
          </a:prstGeom>
          <a:solidFill>
            <a:srgbClr val="F4F6F9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326880" y="2697480"/>
            <a:ext cx="1783080" cy="1371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B2A4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Result to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1B2A4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Register File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40080" y="4297680"/>
            <a:ext cx="4023360" cy="502920"/>
          </a:xfrm>
          <a:prstGeom prst="roundRect">
            <a:avLst>
              <a:gd name="adj" fmla="val 10909"/>
            </a:avLst>
          </a:prstGeom>
          <a:solidFill>
            <a:srgbClr val="F2A93B"/>
          </a:solidFill>
        </p:spPr>
      </p:sp>
      <p:sp>
        <p:nvSpPr>
          <p:cNvPr id="29" name="Text 27"/>
          <p:cNvSpPr/>
          <p:nvPr/>
        </p:nvSpPr>
        <p:spPr>
          <a:xfrm>
            <a:off x="640080" y="4297680"/>
            <a:ext cx="40233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IF/ID Pipeline boundary: Fetch stage separated from Decode-through-Write-back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TechGlobal VLSI Internship — Project Presentation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0085" y="304800"/>
            <a:ext cx="11096625" cy="6217285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Methods and Techniques Used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10881360" cy="42062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1B2A4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Modular RTL design — each operation / datapath block coded and tested as an independent module before integration.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1B2A4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Self-checking testbenches — automated PASS/FAIL comparison against hand-calculated expected values, rather than manual waveform inspection alone.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1B2A4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Golden-model cross-checking — plain Verilog operators used as an independent reference to catch structural integration bugs.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1B2A4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Hierarchical debug ports — top-level signals (pc_out, write_back_out, zero_out, etc.) exposed for both simulation and future FPGA-level observability.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1B2A4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Version-controlled iterative development — structured Git commit history documenting each design and verification milestone.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TechGlobal VLSI Internship — Project Presentation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Progress in Project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212080" cy="914400"/>
          </a:xfrm>
          <a:prstGeom prst="roundRect">
            <a:avLst>
              <a:gd name="adj" fmla="val 8000"/>
            </a:avLst>
          </a:prstGeom>
          <a:solidFill>
            <a:srgbClr val="1C7293"/>
          </a:solidFill>
        </p:spPr>
      </p:sp>
      <p:sp>
        <p:nvSpPr>
          <p:cNvPr id="5" name="Text 3"/>
          <p:cNvSpPr/>
          <p:nvPr/>
        </p:nvSpPr>
        <p:spPr>
          <a:xfrm>
            <a:off x="822960" y="1810512"/>
            <a:ext cx="48463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MONTH 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2103120"/>
            <a:ext cx="48463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4EAF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Classroom training — Verilog HDL fundamentals, digital design concepts, EDA tool orientation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40080" y="2743200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MONTH 2 — PROJECT PHASE (this project)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3108960"/>
            <a:ext cx="1188720" cy="621792"/>
          </a:xfrm>
          <a:prstGeom prst="roundRect">
            <a:avLst>
              <a:gd name="adj" fmla="val 8824"/>
            </a:avLst>
          </a:prstGeom>
          <a:solidFill>
            <a:srgbClr val="0B1F3A"/>
          </a:solidFill>
        </p:spPr>
      </p:sp>
      <p:sp>
        <p:nvSpPr>
          <p:cNvPr id="9" name="Text 7"/>
          <p:cNvSpPr/>
          <p:nvPr/>
        </p:nvSpPr>
        <p:spPr>
          <a:xfrm>
            <a:off x="640080" y="3108960"/>
            <a:ext cx="1188720" cy="6217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2A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Week 1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965960" y="3108960"/>
            <a:ext cx="9555480" cy="621792"/>
          </a:xfrm>
          <a:prstGeom prst="roundRect">
            <a:avLst>
              <a:gd name="adj" fmla="val 8824"/>
            </a:avLst>
          </a:prstGeom>
          <a:solidFill>
            <a:srgbClr val="F4F6F9"/>
          </a:solidFill>
        </p:spPr>
      </p:sp>
      <p:sp>
        <p:nvSpPr>
          <p:cNvPr id="11" name="Text 9"/>
          <p:cNvSpPr/>
          <p:nvPr/>
        </p:nvSpPr>
        <p:spPr>
          <a:xfrm>
            <a:off x="2194560" y="3108960"/>
            <a:ext cx="9144000" cy="6217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A4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8-bit ALU: module design (adder, logic gates, shifter)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3822192"/>
            <a:ext cx="1188720" cy="621792"/>
          </a:xfrm>
          <a:prstGeom prst="roundRect">
            <a:avLst>
              <a:gd name="adj" fmla="val 8824"/>
            </a:avLst>
          </a:prstGeom>
          <a:solidFill>
            <a:srgbClr val="0B1F3A"/>
          </a:solidFill>
        </p:spPr>
      </p:sp>
      <p:sp>
        <p:nvSpPr>
          <p:cNvPr id="13" name="Text 11"/>
          <p:cNvSpPr/>
          <p:nvPr/>
        </p:nvSpPr>
        <p:spPr>
          <a:xfrm>
            <a:off x="640080" y="3822192"/>
            <a:ext cx="1188720" cy="6217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2A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Week 2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965960" y="3822192"/>
            <a:ext cx="9555480" cy="621792"/>
          </a:xfrm>
          <a:prstGeom prst="roundRect">
            <a:avLst>
              <a:gd name="adj" fmla="val 8824"/>
            </a:avLst>
          </a:prstGeom>
          <a:solidFill>
            <a:srgbClr val="F4F6F9"/>
          </a:solidFill>
        </p:spPr>
      </p:sp>
      <p:sp>
        <p:nvSpPr>
          <p:cNvPr id="15" name="Text 13"/>
          <p:cNvSpPr/>
          <p:nvPr/>
        </p:nvSpPr>
        <p:spPr>
          <a:xfrm>
            <a:off x="2194560" y="3822192"/>
            <a:ext cx="9144000" cy="6217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A4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ALU integration, self-checking testbench, synthesis analysis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4535424"/>
            <a:ext cx="1188720" cy="621792"/>
          </a:xfrm>
          <a:prstGeom prst="roundRect">
            <a:avLst>
              <a:gd name="adj" fmla="val 8824"/>
            </a:avLst>
          </a:prstGeom>
          <a:solidFill>
            <a:srgbClr val="0B1F3A"/>
          </a:solidFill>
        </p:spPr>
      </p:sp>
      <p:sp>
        <p:nvSpPr>
          <p:cNvPr id="17" name="Text 15"/>
          <p:cNvSpPr/>
          <p:nvPr/>
        </p:nvSpPr>
        <p:spPr>
          <a:xfrm>
            <a:off x="640080" y="4535424"/>
            <a:ext cx="1188720" cy="6217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2A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Week 3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965960" y="4535424"/>
            <a:ext cx="9555480" cy="621792"/>
          </a:xfrm>
          <a:prstGeom prst="roundRect">
            <a:avLst>
              <a:gd name="adj" fmla="val 8824"/>
            </a:avLst>
          </a:prstGeom>
          <a:solidFill>
            <a:srgbClr val="F4F6F9"/>
          </a:solidFill>
        </p:spPr>
      </p:sp>
      <p:sp>
        <p:nvSpPr>
          <p:cNvPr id="19" name="Text 17"/>
          <p:cNvSpPr/>
          <p:nvPr/>
        </p:nvSpPr>
        <p:spPr>
          <a:xfrm>
            <a:off x="2194560" y="4535424"/>
            <a:ext cx="9144000" cy="6217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A4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RISC processor: datapath, control unit, register file, memory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40080" y="5248656"/>
            <a:ext cx="1188720" cy="621792"/>
          </a:xfrm>
          <a:prstGeom prst="roundRect">
            <a:avLst>
              <a:gd name="adj" fmla="val 8824"/>
            </a:avLst>
          </a:prstGeom>
          <a:solidFill>
            <a:srgbClr val="0B1F3A"/>
          </a:solidFill>
        </p:spPr>
      </p:sp>
      <p:sp>
        <p:nvSpPr>
          <p:cNvPr id="21" name="Text 19"/>
          <p:cNvSpPr/>
          <p:nvPr/>
        </p:nvSpPr>
        <p:spPr>
          <a:xfrm>
            <a:off x="640080" y="5248656"/>
            <a:ext cx="1188720" cy="6217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2A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Week 4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1965960" y="5248656"/>
            <a:ext cx="9555480" cy="621792"/>
          </a:xfrm>
          <a:prstGeom prst="roundRect">
            <a:avLst>
              <a:gd name="adj" fmla="val 8824"/>
            </a:avLst>
          </a:prstGeom>
          <a:solidFill>
            <a:srgbClr val="F4F6F9"/>
          </a:solidFill>
        </p:spPr>
      </p:sp>
      <p:sp>
        <p:nvSpPr>
          <p:cNvPr id="23" name="Text 21"/>
          <p:cNvSpPr/>
          <p:nvPr/>
        </p:nvSpPr>
        <p:spPr>
          <a:xfrm>
            <a:off x="2194560" y="5248656"/>
            <a:ext cx="9144000" cy="6217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A4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IF/ID pipeline, verification, documentation &amp; GitHub publishing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TechGlobal VLSI Internship — Project Presentation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Outcome / Results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10881360" cy="42062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1B2A4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Two fully functional, independently verified Verilog designs: 8-bit ALU and 16-bit RISC processor.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1B2A4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80 automated ALU test vectors and 6 automated RISC processor checks, all passing.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1B2A4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Post-synthesis timing, resource utilization, and power reports generated for the ALU design.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1B2A4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Complete GitHub documentation: README, block diagrams, waveform screenshots, and this project report.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1B2A4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2-stage IF/ID pipeline delivered as a value-added enhancement beyond the baseline single-cycle specification.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TechGlobal VLSI Internship — Project Presentation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188720"/>
            <a:ext cx="4114800" cy="4114800"/>
          </a:xfrm>
          <a:prstGeom prst="ellipse">
            <a:avLst/>
          </a:prstGeom>
          <a:solidFill>
            <a:srgbClr val="1C7293">
              <a:alpha val="22000"/>
            </a:srgbClr>
          </a:solidFill>
        </p:spPr>
      </p:sp>
      <p:sp>
        <p:nvSpPr>
          <p:cNvPr id="3" name="Text 1"/>
          <p:cNvSpPr/>
          <p:nvPr/>
        </p:nvSpPr>
        <p:spPr>
          <a:xfrm>
            <a:off x="822960" y="640080"/>
            <a:ext cx="91440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2A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CONCLUSION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097280"/>
            <a:ext cx="10241280" cy="10515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This internship project delivered a complete, verified journey from combinational logic design to a working pipelined RISC processor.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22960" y="2331720"/>
            <a:ext cx="10241280" cy="38404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450" dirty="0">
                <a:solidFill>
                  <a:srgbClr val="E4EAF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Both the 8-bit ALU and the 16-bit RISC processor were carried through the complete RTL flow — specification, modular coding, self-checking verification, synthesis, and post-implementation analysis — mirroring industry design practice rather than a purely academic exercise.</a:t>
            </a:r>
            <a:endParaRPr lang="en-US" sz="1450" dirty="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450" dirty="0">
                <a:solidFill>
                  <a:srgbClr val="E4EAF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2-stage IF/ID pipeline, delivered as a value-added enhancement beyond the baseline single-cycle requirement, demonstrates initiative beyond the minimum project scope.</a:t>
            </a:r>
            <a:endParaRPr lang="en-US" sz="1450" dirty="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450" dirty="0">
                <a:solidFill>
                  <a:srgbClr val="E4EAF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Verification was rigorous, not superficial: 80 automated ALU test vectors and pipeline-aware processor checks, cross-validated against hand-calculated expected results rather than visual inspection alone.</a:t>
            </a:r>
            <a:endParaRPr lang="en-US" sz="1450" dirty="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450" dirty="0">
                <a:solidFill>
                  <a:srgbClr val="E4EAF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Beyond the technical deliverables, this internship strengthened professional engineering practices — systematic debugging, version-controlled iterative development, and clear technical documentation — that extend directly to any future hardware design role.</a:t>
            </a:r>
            <a:endParaRPr lang="en-US" sz="1450" dirty="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450" dirty="0">
                <a:solidFill>
                  <a:srgbClr val="E4EAF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All source code, verification results, and documentation are published and version-controlled on GitHub, providing a transparent, reproducible record of the work completed.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TechGlobal VLSI Internship — Project Presentation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References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10881360" cy="48463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100" dirty="0">
                <a:solidFill>
                  <a:srgbClr val="1B2A4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[1] A. K. Panigrahi, S. Patra, M. Agrawal, and S. Satapathy, "Design and Implementation of a High Speed 4-bit ALU using BASYS3 FPGA Board," IEEE, Mar. 2019.</a:t>
            </a:r>
            <a:endParaRPr lang="en-US" sz="11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100" dirty="0">
                <a:solidFill>
                  <a:srgbClr val="1B2A4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[2] J. Jeemon, "Pipelined 8-bit RISC Processor Design using Verilog HDL on FPGA," 2016 IEEE Int. Conf. on Recent Trends in Electronics, Information &amp; Communication Technology (RTEICT), 2016, pp. 2023-2027.</a:t>
            </a:r>
            <a:endParaRPr lang="en-US" sz="11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100" dirty="0">
                <a:solidFill>
                  <a:srgbClr val="1B2A4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[3] "Design and Implementation of Five Stages Pipelined RISC Processor on FPGA," IEEE Conference Publication, IEEE Xplore Doc. 10169818.</a:t>
            </a:r>
            <a:endParaRPr lang="en-US" sz="11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100" dirty="0">
                <a:solidFill>
                  <a:srgbClr val="1B2A4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[4] "Design and FPGA Implementation of Five Stage Pipelined RISC-V Processor," IEEE Conference Publication, IEEE Xplore Doc. 10544184.</a:t>
            </a:r>
            <a:endParaRPr lang="en-US" sz="11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100" dirty="0">
                <a:solidFill>
                  <a:srgbClr val="1B2A4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[5] D. A. Patterson and J. L. Hennessy, Computer Organization and Design: The Hardware/Software Interface, RISC-V Edition, Morgan Kaufmann, 2017.</a:t>
            </a:r>
            <a:endParaRPr lang="en-US" sz="11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100" dirty="0">
                <a:solidFill>
                  <a:srgbClr val="1B2A4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[6] IEEE Standard for Verilog Hardware Description Language, IEEE Std 1364-2005.</a:t>
            </a:r>
            <a:endParaRPr lang="en-US" sz="11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100" dirty="0">
                <a:solidFill>
                  <a:srgbClr val="1B2A4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[7] Xilinx Inc., Vivado Design Suite User Guide: Synthesis (UG901) and Logic Simulation (UG900), 2019.</a:t>
            </a:r>
            <a:endParaRPr lang="en-US" sz="11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100" dirty="0">
                <a:solidFill>
                  <a:srgbClr val="1B2A4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[8] merledu, BURAQ-mini: A 16-bit RISC Processor in Verilog, GitHub — github.com/merledu/BURAQ-mini</a:t>
            </a:r>
            <a:endParaRPr lang="en-US" sz="11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100" dirty="0">
                <a:solidFill>
                  <a:srgbClr val="1B2A4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[9] RISC-V Foundation, riscv-sodor: Educational RISC-V Processor Cores, GitHub — github.com/riscv/riscv-sodor</a:t>
            </a:r>
            <a:endParaRPr lang="en-US" sz="11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100" dirty="0">
                <a:solidFill>
                  <a:srgbClr val="1B2A4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[10] HDLBits, Interactive Verilog Practice Problems — hdlbits.01xz.net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TechGlobal VLSI Internship — Project Presentation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23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14792</Words>
  <Application>WPS Presentation</Application>
  <PresentationFormat>On-screen Show (16:9)</PresentationFormat>
  <Paragraphs>677</Paragraphs>
  <Slides>30</Slides>
  <Notes>25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30</vt:i4>
      </vt:variant>
    </vt:vector>
  </HeadingPairs>
  <TitlesOfParts>
    <vt:vector size="42" baseType="lpstr">
      <vt:lpstr>Arial</vt:lpstr>
      <vt:lpstr>SimSun</vt:lpstr>
      <vt:lpstr>Wingdings</vt:lpstr>
      <vt:lpstr>Cambria</vt:lpstr>
      <vt:lpstr>Cambria</vt:lpstr>
      <vt:lpstr>Cambria</vt:lpstr>
      <vt:lpstr>Calibri</vt:lpstr>
      <vt:lpstr>Calibri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mythri Reddy</cp:lastModifiedBy>
  <cp:revision>3</cp:revision>
  <dcterms:created xsi:type="dcterms:W3CDTF">2026-07-30T00:36:00Z</dcterms:created>
  <dcterms:modified xsi:type="dcterms:W3CDTF">2026-07-31T16:33:33Z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1033-12.1.0.27458</vt:lpwstr>
  </property>
  <property fmtid="{D5CDD505-2E9C-101B-9397-08002B2CF9AE}" pid="3" name="ICV">
    <vt:lpwstr>ECD06D5F44D044BAB1261C1EFDDFE3D0_13</vt:lpwstr>
  </property>
</Properties>
</file>